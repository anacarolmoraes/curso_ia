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11827"/>
                </a:solidFill>
                <a:latin typeface="Montserrat"/>
              </a:defRPr>
            </a:pPr>
            <a:r>
              <a:t>Superávit de Produtividade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B5563"/>
                </a:solidFill>
                <a:latin typeface="Inter"/>
              </a:defRPr>
            </a:pPr>
            <a:r>
              <a:t>A Inteligência Artificial Aplicada à Execução Orçamentária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FFC107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0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i="1">
                <a:solidFill>
                  <a:srgbClr val="111827"/>
                </a:solidFill>
                <a:latin typeface="Inter"/>
              </a:defRPr>
            </a:pPr>
            <a:r>
              <a:t>Fazer isso na mão é o nosso vilão. Rouba nosso tempo técnico para fazer trabalho braçal.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1467D"/>
                </a:solidFill>
                <a:latin typeface="Montserrat"/>
              </a:defRPr>
            </a:pPr>
            <a:r>
              <a:t>— O Ponto de Dor do Contador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Montserrat"/>
              </a:defRPr>
            </a:pPr>
            <a:r>
              <a:t>O Novo Paradigma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1467D"/>
                </a:solidFill>
                <a:latin typeface="Montserrat"/>
              </a:defRPr>
            </a:pPr>
            <a:r>
              <a:t>O Modelo Antigo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Busca manual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PDFs de 8MB inteiros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Sobrecarga de contexto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Resultados genéricos e erros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1467D"/>
                </a:solidFill>
                <a:latin typeface="Montserrat"/>
              </a:defRPr>
            </a:pPr>
            <a:r>
              <a:t>A Delegação Tecnológica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Operação de Agente Autônomo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Limpeza e curadoria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Economia de Tokens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Precisão e aderência normativa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Montserrat"/>
              </a:defRPr>
            </a:pPr>
            <a:r>
              <a:t>O Método de Orquestração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Curadoria e Limpeza de Dados (PDF para Markdown).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Processamento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Aplicação da Lógica Contábil e Regulatória no Prompt.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Saída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Relatório preciso com validação da Classificação Orçamentária.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6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ontserrat"/>
              </a:defRPr>
            </a:pPr>
            <a:r>
              <a:t>Hora 2: A Visão de Futuro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Montserrat"/>
              </a:defRPr>
            </a:pPr>
            <a:r>
              <a:t>O Impacto na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01467D"/>
                </a:solidFill>
                <a:latin typeface="Montserrat"/>
              </a:defRPr>
            </a:pPr>
            <a:r>
              <a:t>2 Hrs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B5563"/>
                </a:solidFill>
                <a:latin typeface="Inter"/>
              </a:defRPr>
            </a:pPr>
            <a:r>
              <a:t>De trabalho braçal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2743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>
                <a:solidFill>
                  <a:srgbClr val="01467D"/>
                </a:solidFill>
                <a:latin typeface="Montserrat"/>
              </a:defRPr>
            </a:pPr>
            <a:r>
              <a:t>40 Seg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4114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4B5563"/>
                </a:solidFill>
                <a:latin typeface="Inter"/>
              </a:defRPr>
            </a:pPr>
            <a:r>
              <a:t>Para auditoria com 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FFC107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0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i="1">
                <a:solidFill>
                  <a:srgbClr val="111827"/>
                </a:solidFill>
                <a:latin typeface="Inter"/>
              </a:defRPr>
            </a:pPr>
            <a:r>
              <a:t>A tela preta é como a cozinha de um restaurante no horário de pico. Você foca no 'Pedido' e a IA entrega o 'Prato'.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1467D"/>
                </a:solidFill>
                <a:latin typeface="Montserrat"/>
              </a:defRPr>
            </a:pPr>
            <a:r>
              <a:t>— A Vacina Contra o Pânico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Montserrat"/>
              </a:defRPr>
            </a:pPr>
            <a:r>
              <a:t>Saneamento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1467D"/>
                </a:solidFill>
                <a:latin typeface="Montserrat"/>
              </a:defRPr>
            </a:pPr>
            <a:r>
              <a:t>PDF Bruto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8MB de tamanho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Lixo visual e logomarcas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Causa alucinações na IA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Desperdício de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4846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1467D"/>
                </a:solidFill>
                <a:latin typeface="Montserrat"/>
              </a:defRPr>
            </a:pPr>
            <a:r>
              <a:t>Texto Limpo (Markdown)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Arquivo leve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Apenas a informação central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Foco no filé mignon do dado</a:t>
            </a:r>
          </a:p>
          <a:p>
            <a:pPr>
              <a:spcBef>
                <a:spcPts val="1200"/>
              </a:spcBef>
              <a:defRPr sz="2000">
                <a:solidFill>
                  <a:srgbClr val="4B5563"/>
                </a:solidFill>
                <a:latin typeface="Inter"/>
              </a:defRPr>
            </a:pPr>
            <a:r>
              <a:t>• Economia do orçamento de atenção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467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Montserrat"/>
              </a:defRPr>
            </a:pPr>
            <a:r>
              <a:t>Hora 3: A Realidade (Segunda-feira)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11827"/>
                </a:solidFill>
                <a:latin typeface="Montserrat"/>
              </a:defRPr>
            </a:pPr>
            <a:r>
              <a:t>O Guia de Sobrevivência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O Kit do Aluno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Um bloco de notas com o Prompt Perfeito. Sua nova Skill portátil.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8056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Curadoria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Se não há ferramenta de conversão, copie apenas o texto necessário.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32004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2286000"/>
            <a:ext cx="3200400" cy="914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60320"/>
            <a:ext cx="2834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111827"/>
                </a:solidFill>
                <a:latin typeface="Montserrat"/>
              </a:defRPr>
            </a:pPr>
            <a:r>
              <a:t>Navegador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200400"/>
            <a:ext cx="2834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B5563"/>
                </a:solidFill>
                <a:latin typeface="Inter"/>
              </a:defRPr>
            </a:pPr>
            <a:r>
              <a:t>Usando o Google Gemini ou Claude.ai para executar a tarefa.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0">
                <a:solidFill>
                  <a:srgbClr val="FFC107"/>
                </a:solidFill>
                <a:latin typeface="Georgia"/>
              </a:defRPr>
            </a:pPr>
            <a: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09728" cy="2286000"/>
          </a:xfrm>
          <a:prstGeom prst="rect">
            <a:avLst/>
          </a:prstGeom>
          <a:solidFill>
            <a:srgbClr val="0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i="1">
                <a:solidFill>
                  <a:srgbClr val="111827"/>
                </a:solidFill>
                <a:latin typeface="Inter"/>
              </a:defRPr>
            </a:pPr>
            <a:r>
              <a:t>A IA não substitui a assinatura ou a responsabilidade. Ela substitui o trabalho braçal.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1467D"/>
                </a:solidFill>
                <a:latin typeface="Montserrat"/>
              </a:defRPr>
            </a:pPr>
            <a:r>
              <a:t>— O Futuro da Auditoria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14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108173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111827"/>
                </a:solidFill>
                <a:latin typeface="Montserrat"/>
              </a:defRPr>
            </a:pPr>
            <a:r>
              <a:t>Vamos Orquestrar?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206240"/>
            <a:ext cx="94457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B5563"/>
                </a:solidFill>
                <a:latin typeface="Inter"/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